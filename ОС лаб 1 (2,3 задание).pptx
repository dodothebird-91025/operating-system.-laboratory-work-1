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5C13"/>
    <a:srgbClr val="964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22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38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998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5505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424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85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26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736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82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96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rgbClr val="C75C13"/>
            </a:gs>
            <a:gs pos="100000">
              <a:schemeClr val="bg2">
                <a:lumMod val="75000"/>
              </a:schemeClr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084B-CDD0-4296-B20E-C9C72F146426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D62CC-6A48-4782-A1B9-7BEF2B8583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537"/>
            <a:ext cx="12192000" cy="6877538"/>
          </a:xfrm>
        </p:spPr>
      </p:pic>
    </p:spTree>
    <p:extLst>
      <p:ext uri="{BB962C8B-B14F-4D97-AF65-F5344CB8AC3E}">
        <p14:creationId xmlns:p14="http://schemas.microsoft.com/office/powerpoint/2010/main" val="371699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Объект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274"/>
            <a:ext cx="8361680" cy="6878274"/>
          </a:xfr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0"/>
          <a:stretch/>
        </p:blipFill>
        <p:spPr>
          <a:xfrm>
            <a:off x="8490316" y="142239"/>
            <a:ext cx="3558295" cy="3474721"/>
          </a:xfr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704" y="3949846"/>
            <a:ext cx="3271520" cy="274559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8952"/>
            <a:ext cx="31718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4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0024"/>
            <a:ext cx="11353800" cy="6403976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 smtClean="0"/>
              <a:t>Ряд А: использовался для сохранения промежуточных результатов вычисления.</a:t>
            </a:r>
          </a:p>
          <a:p>
            <a:r>
              <a:rPr lang="uk-UA" sz="2000" dirty="0" smtClean="0"/>
              <a:t>Ряд В: диски с цифрами от 0 до 9 (</a:t>
            </a:r>
            <a:r>
              <a:rPr lang="uk-UA" sz="2000" dirty="0" err="1" smtClean="0"/>
              <a:t>сохранение</a:t>
            </a:r>
            <a:r>
              <a:rPr lang="uk-UA" sz="2000" dirty="0" smtClean="0"/>
              <a:t> </a:t>
            </a:r>
            <a:r>
              <a:rPr lang="uk-UA" sz="2000" dirty="0" err="1" smtClean="0"/>
              <a:t>промежуточных</a:t>
            </a:r>
            <a:r>
              <a:rPr lang="uk-UA" sz="2000" dirty="0" smtClean="0"/>
              <a:t> </a:t>
            </a:r>
            <a:r>
              <a:rPr lang="uk-UA" sz="2000" dirty="0" err="1" smtClean="0"/>
              <a:t>результатов</a:t>
            </a:r>
            <a:r>
              <a:rPr lang="uk-UA" sz="2000" dirty="0" smtClean="0"/>
              <a:t> </a:t>
            </a:r>
            <a:r>
              <a:rPr lang="uk-UA" sz="2000" dirty="0" err="1" smtClean="0"/>
              <a:t>вычисления</a:t>
            </a:r>
            <a:r>
              <a:rPr lang="uk-UA" sz="2000" dirty="0" smtClean="0"/>
              <a:t>).</a:t>
            </a:r>
          </a:p>
          <a:p>
            <a:r>
              <a:rPr lang="uk-UA" sz="2000" dirty="0" smtClean="0"/>
              <a:t>Ряд С: </a:t>
            </a:r>
            <a:r>
              <a:rPr lang="uk-UA" sz="2000" dirty="0" err="1" smtClean="0"/>
              <a:t>содержит</a:t>
            </a:r>
            <a:r>
              <a:rPr lang="uk-UA" sz="2000" dirty="0" smtClean="0"/>
              <a:t> поводки </a:t>
            </a:r>
            <a:r>
              <a:rPr lang="en-US" sz="2000" dirty="0" smtClean="0"/>
              <a:t>J</a:t>
            </a:r>
            <a:r>
              <a:rPr lang="uk-UA" sz="2000" dirty="0" smtClean="0"/>
              <a:t>, </a:t>
            </a:r>
            <a:r>
              <a:rPr lang="uk-UA" sz="2000" dirty="0" err="1" smtClean="0"/>
              <a:t>котор</a:t>
            </a:r>
            <a:r>
              <a:rPr lang="ru-RU" sz="2000" dirty="0" err="1" smtClean="0"/>
              <a:t>ые</a:t>
            </a:r>
            <a:r>
              <a:rPr lang="ru-RU" sz="2000" dirty="0" smtClean="0"/>
              <a:t> использовались для проведения операций сложения и умножения.</a:t>
            </a:r>
          </a:p>
          <a:p>
            <a:r>
              <a:rPr lang="ru-RU" sz="2000" dirty="0" smtClean="0"/>
              <a:t>Ряд </a:t>
            </a:r>
            <a:r>
              <a:rPr lang="en-US" sz="2000" dirty="0" smtClean="0"/>
              <a:t>D: </a:t>
            </a:r>
            <a:r>
              <a:rPr lang="uk-UA" sz="2000" dirty="0" err="1" smtClean="0"/>
              <a:t>содержит</a:t>
            </a:r>
            <a:r>
              <a:rPr lang="uk-UA" sz="2000" dirty="0" smtClean="0"/>
              <a:t> </a:t>
            </a:r>
            <a:r>
              <a:rPr lang="uk-UA" sz="2000" dirty="0" err="1" smtClean="0"/>
              <a:t>квадратн</a:t>
            </a:r>
            <a:r>
              <a:rPr lang="ru-RU" sz="2000" dirty="0" err="1" smtClean="0"/>
              <a:t>ые</a:t>
            </a:r>
            <a:r>
              <a:rPr lang="ru-RU" sz="2000" dirty="0" smtClean="0"/>
              <a:t> окошки, в которых отображается результат </a:t>
            </a:r>
            <a:r>
              <a:rPr lang="ru-RU" sz="2000" dirty="0" err="1" smtClean="0"/>
              <a:t>проведеной</a:t>
            </a:r>
            <a:r>
              <a:rPr lang="ru-RU" sz="2000" dirty="0" smtClean="0"/>
              <a:t> операции.</a:t>
            </a:r>
          </a:p>
          <a:p>
            <a:r>
              <a:rPr lang="ru-RU" sz="2000" dirty="0" smtClean="0"/>
              <a:t>Ряд </a:t>
            </a:r>
            <a:r>
              <a:rPr lang="uk-UA" sz="2000" dirty="0" smtClean="0"/>
              <a:t>І: </a:t>
            </a:r>
            <a:r>
              <a:rPr lang="uk-UA" sz="2000" dirty="0" err="1" smtClean="0"/>
              <a:t>содержит</a:t>
            </a:r>
            <a:r>
              <a:rPr lang="uk-UA" sz="2000" dirty="0" smtClean="0"/>
              <a:t> поводки, </a:t>
            </a:r>
            <a:r>
              <a:rPr lang="uk-UA" sz="2000" dirty="0" err="1" smtClean="0"/>
              <a:t>котор</a:t>
            </a:r>
            <a:r>
              <a:rPr lang="ru-RU" sz="2000" dirty="0" err="1" smtClean="0"/>
              <a:t>ые</a:t>
            </a:r>
            <a:r>
              <a:rPr lang="ru-RU" sz="2000" dirty="0" smtClean="0"/>
              <a:t> использовались для установки счетной машины в исходное состояние                   </a:t>
            </a:r>
            <a:r>
              <a:rPr lang="ru-RU" sz="2000" dirty="0"/>
              <a:t> </a:t>
            </a:r>
            <a:r>
              <a:rPr lang="ru-RU" sz="2000" dirty="0" smtClean="0"/>
              <a:t>                         после проведения операций сложения, вычитания, умножения или деления.</a:t>
            </a:r>
          </a:p>
          <a:p>
            <a:r>
              <a:rPr lang="uk-UA" sz="2000" dirty="0" smtClean="0"/>
              <a:t>Ряд </a:t>
            </a:r>
            <a:r>
              <a:rPr lang="en-US" sz="2000" dirty="0" smtClean="0"/>
              <a:t>F:</a:t>
            </a:r>
            <a:r>
              <a:rPr lang="uk-UA" sz="2000" dirty="0" smtClean="0"/>
              <a:t> поводки </a:t>
            </a:r>
            <a:r>
              <a:rPr lang="uk-UA" sz="2000" dirty="0" err="1" smtClean="0"/>
              <a:t>использовались</a:t>
            </a:r>
            <a:r>
              <a:rPr lang="uk-UA" sz="2000" dirty="0" smtClean="0"/>
              <a:t> для в</a:t>
            </a:r>
            <a:r>
              <a:rPr lang="ru-RU" sz="2000" dirty="0" err="1" smtClean="0"/>
              <a:t>ычетания</a:t>
            </a:r>
            <a:r>
              <a:rPr lang="ru-RU" sz="2000" dirty="0" smtClean="0"/>
              <a:t> и деления.</a:t>
            </a:r>
            <a:endParaRPr lang="en-US" sz="2000" dirty="0"/>
          </a:p>
          <a:p>
            <a:r>
              <a:rPr lang="uk-UA" sz="2000" dirty="0" smtClean="0"/>
              <a:t>Ряд </a:t>
            </a:r>
            <a:r>
              <a:rPr lang="en-US" sz="2000" dirty="0" smtClean="0"/>
              <a:t>G: </a:t>
            </a:r>
            <a:r>
              <a:rPr lang="uk-UA" sz="2000" dirty="0" err="1" smtClean="0"/>
              <a:t>отображение</a:t>
            </a:r>
            <a:r>
              <a:rPr lang="uk-UA" sz="2000" dirty="0" smtClean="0"/>
              <a:t> числа, показ</a:t>
            </a:r>
            <a:r>
              <a:rPr lang="ru-RU" sz="2000" dirty="0" err="1" smtClean="0"/>
              <a:t>ывающее</a:t>
            </a:r>
            <a:r>
              <a:rPr lang="ru-RU" sz="2000" dirty="0" smtClean="0"/>
              <a:t> кол-во вводов всех разрядов делителя.</a:t>
            </a:r>
          </a:p>
          <a:p>
            <a:pPr marL="0" indent="0">
              <a:buNone/>
            </a:pPr>
            <a:r>
              <a:rPr lang="ru-RU" sz="2000" dirty="0" smtClean="0"/>
              <a:t>Поводки (I) – это стержни (M), на которых закреплены: цифровой диск (N), зубчатое колесо (R) и однозубое колес переноса переполнения (Q</a:t>
            </a:r>
            <a:r>
              <a:rPr lang="ru-RU" sz="2000" dirty="0" smtClean="0"/>
              <a:t>)</a:t>
            </a:r>
            <a:r>
              <a:rPr lang="en-US" sz="2000" dirty="0"/>
              <a:t>.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На поводке J жестко закреплена зубчатая гребенка (К), входящая в зацепление с зубчатым колесом R,  закрепленным на одной оси (М) с цифровым диском (N).</a:t>
            </a:r>
          </a:p>
          <a:p>
            <a:pPr marL="0" indent="0">
              <a:buNone/>
            </a:pPr>
            <a:r>
              <a:rPr lang="ru-RU" sz="2000" dirty="0"/>
              <a:t>Д</a:t>
            </a:r>
            <a:r>
              <a:rPr lang="ru-RU" sz="2000" dirty="0" smtClean="0"/>
              <a:t>иск (N) поворачивался так, что в окошке (D) отображался введенный разряд первого слагаемого. После того, как установочный ключ отпускался, поводок (J) вместе с гребенкой (K) возвращался в исходное состояние под действием пружины (L). Аналогично, вводились следующие разряды первого слагаемого.</a:t>
            </a:r>
            <a:r>
              <a:rPr lang="ru-RU" sz="2000" dirty="0"/>
              <a:t> Далее с помощью этих же поводков (J) вводилось второе слагаемое, по описанному выше алгоритму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r>
              <a:rPr lang="ru-RU" sz="2000" dirty="0"/>
              <a:t>Если при вводе очередного разряда слагаемого происходило переполнение, то разряд переполнения переносился в старший </a:t>
            </a:r>
            <a:r>
              <a:rPr lang="ru-RU" sz="2000" dirty="0" smtClean="0"/>
              <a:t>разряд. Происходило </a:t>
            </a:r>
            <a:r>
              <a:rPr lang="ru-RU" sz="2000" dirty="0"/>
              <a:t>это так. На оси (М), к которой был прикреплен </a:t>
            </a:r>
            <a:r>
              <a:rPr lang="ru-RU" sz="2000" dirty="0" smtClean="0"/>
              <a:t>диск </a:t>
            </a:r>
            <a:r>
              <a:rPr lang="ru-RU" sz="2000" dirty="0"/>
              <a:t>(N), располагался однозубый диск(Q), входящий в зацепление с зубчатым диском (P) в момент переполнения разряда и поворачивающий его на одно деление. Зубчатый диск, в свою очередь, входил в зацепление с зубчатым диском (Z), поворачивающим цифровой диск старшего разряда на одно деление</a:t>
            </a:r>
            <a:r>
              <a:rPr lang="ru-RU" sz="2000" dirty="0" smtClean="0"/>
              <a:t>.</a:t>
            </a:r>
          </a:p>
          <a:p>
            <a:pPr marL="0" indent="0">
              <a:buNone/>
            </a:pPr>
            <a:endParaRPr lang="ru-RU" sz="16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33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201" y="101600"/>
            <a:ext cx="1198879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900" dirty="0" smtClean="0"/>
              <a:t>Организация процесса вычитания и деления было схожа с процессом сложения. Внешне для пользователя счетной машины это отличие заключалось в направлении поворота поводков (W). Так при сложении они поворачивались против часовой стрелки, а при вычитании - по часовой стрелке. Поводок (W) поворачивал зубчатую гребенку (T), которая входила в зацепление с зубчатым колесом (Z), поворачивая его. После окончания ввода вычитаемого в окошках отображения результата (D) показывался результат вычитания. Если при вычитании величины уменьшаемого разряда не хватало, то от старшего разряда отнималась единица и прибавлялась к младшему. Осуществлялось это автоматически, с помощью того же механизма, который использовался для переноса переполнения при сложении.</a:t>
            </a:r>
          </a:p>
          <a:p>
            <a:endParaRPr lang="ru-RU" sz="1900" dirty="0"/>
          </a:p>
          <a:p>
            <a:r>
              <a:rPr lang="ru-RU" sz="1900" dirty="0" smtClean="0"/>
              <a:t>Автоматический подсчет количества вычитаний происходил следующим образом. Когда водился делитель с помощью поводков ряда (F), одновременно с ними, по часовой стрелке, поворачивались зубчатые гребенки (T). Внизу гребенки располагалась подпружиненная планка. При повороте по часовой стрелке подпружиненная планка задевала за штыри (Y) диска (Х) и заходила в паз гребенки. Когда нижняя часть гребенки отворачивалась от штырьков, подпружиненная планка выходила из паза.</a:t>
            </a:r>
          </a:p>
          <a:p>
            <a:endParaRPr lang="ru-RU" sz="1900" dirty="0" smtClean="0"/>
          </a:p>
          <a:p>
            <a:r>
              <a:rPr lang="ru-RU" sz="1900" dirty="0" smtClean="0"/>
              <a:t>После окончания ввода разряда делителя гребенка (T) под действием пружины (U) возвращалась в исходное состояние, при этом, расположенная в нижней части гребенки, подпружиненная пластинка входила в зацепление со штырьками (Y) диска (X), поворачивая его на одно деление. Диск (X) был жестко закреплен на стрежне (W) с цифровым колесом (V), которое также поворачивалось на одно деление. Таким образом, в окошках ряда (G) отображалось число, показывающее количество вводов всех разрядов делителя.</a:t>
            </a: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109209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617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Діма</dc:creator>
  <cp:lastModifiedBy>Діма</cp:lastModifiedBy>
  <cp:revision>6</cp:revision>
  <dcterms:created xsi:type="dcterms:W3CDTF">2021-03-01T17:37:02Z</dcterms:created>
  <dcterms:modified xsi:type="dcterms:W3CDTF">2021-03-02T15:11:56Z</dcterms:modified>
</cp:coreProperties>
</file>