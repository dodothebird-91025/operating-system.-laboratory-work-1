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7" d="100"/>
          <a:sy n="77" d="100"/>
        </p:scale>
        <p:origin x="6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521959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49791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64299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0BE099C-BC39-4098-949D-920B1E9E5DC8}" type="datetimeFigureOut">
              <a:rPr lang="ru-RU" smtClean="0"/>
              <a:t>02.03.2021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39019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0BE099C-BC39-4098-949D-920B1E9E5DC8}" type="datetimeFigureOut">
              <a:rPr lang="ru-RU" smtClean="0"/>
              <a:t>02.03.2021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11270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0BE099C-BC39-4098-949D-920B1E9E5DC8}" type="datetimeFigureOut">
              <a:rPr lang="ru-RU" smtClean="0"/>
              <a:t>02.03.2021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1312829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0BE099C-BC39-4098-949D-920B1E9E5DC8}" type="datetimeFigureOut">
              <a:rPr lang="ru-RU" smtClean="0"/>
              <a:t>02.03.2021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194851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0BE099C-BC39-4098-949D-920B1E9E5DC8}" type="datetimeFigureOut">
              <a:rPr lang="ru-RU" smtClean="0"/>
              <a:t>02.03.2021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38730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0BE099C-BC39-4098-949D-920B1E9E5DC8}" type="datetimeFigureOut">
              <a:rPr lang="ru-RU" smtClean="0"/>
              <a:t>02.03.2021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18656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692410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27660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BE099C-BC39-4098-949D-920B1E9E5DC8}" type="datetimeFigureOut">
              <a:rPr lang="ru-RU" smtClean="0"/>
              <a:t>02.03.2021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5D241F-9B9C-433B-B6A3-D3820AB5F2B4}" type="slidenum">
              <a:rPr lang="ru-RU" smtClean="0"/>
              <a:t>‹#›</a:t>
            </a:fld>
            <a:endParaRPr lang="ru-RU"/>
          </a:p>
        </p:txBody>
      </p:sp>
    </p:spTree>
    <p:extLst>
      <p:ext uri="{BB962C8B-B14F-4D97-AF65-F5344CB8AC3E}">
        <p14:creationId xmlns:p14="http://schemas.microsoft.com/office/powerpoint/2010/main" val="392307096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Описание</a:t>
            </a:r>
            <a:endParaRPr lang="ru-RU" dirty="0"/>
          </a:p>
        </p:txBody>
      </p:sp>
      <p:sp>
        <p:nvSpPr>
          <p:cNvPr id="3" name="Объект 2"/>
          <p:cNvSpPr>
            <a:spLocks noGrp="1"/>
          </p:cNvSpPr>
          <p:nvPr>
            <p:ph idx="1"/>
          </p:nvPr>
        </p:nvSpPr>
        <p:spPr/>
        <p:txBody>
          <a:bodyPr/>
          <a:lstStyle/>
          <a:p>
            <a:r>
              <a:rPr lang="ru-RU" dirty="0" smtClean="0"/>
              <a:t>Автор данного устройства: </a:t>
            </a:r>
            <a:r>
              <a:rPr lang="en-US" dirty="0" smtClean="0"/>
              <a:t>E</a:t>
            </a:r>
            <a:r>
              <a:rPr lang="ru-RU" dirty="0" err="1" smtClean="0"/>
              <a:t>вна</a:t>
            </a:r>
            <a:r>
              <a:rPr lang="ru-RU" dirty="0" smtClean="0"/>
              <a:t> Якобсон</a:t>
            </a:r>
            <a:r>
              <a:rPr lang="en-US" dirty="0" smtClean="0"/>
              <a:t>, </a:t>
            </a:r>
            <a:r>
              <a:rPr lang="ru-RU" dirty="0" smtClean="0"/>
              <a:t>белорусский мастер</a:t>
            </a:r>
          </a:p>
          <a:p>
            <a:r>
              <a:rPr lang="ru-RU" dirty="0" smtClean="0"/>
              <a:t>Точная дата создания неизвестна. Основываясь на орнаменте и надписях, способах обработки дерева и других признаков, датируют примерно в промежутке с 1740 – 1770</a:t>
            </a:r>
          </a:p>
          <a:p>
            <a:r>
              <a:rPr lang="ru-RU" dirty="0" smtClean="0"/>
              <a:t>Изобретение долго и активно использовали гетман Михаил Казимир и его финансисты</a:t>
            </a:r>
          </a:p>
          <a:p>
            <a:r>
              <a:rPr lang="ru-RU" dirty="0" smtClean="0"/>
              <a:t>Задача счетной машины заключается в сложении, вычитании, умножении и делении чисел от единицы до миллиарда. Деление позволяло получать дроби</a:t>
            </a:r>
          </a:p>
        </p:txBody>
      </p:sp>
    </p:spTree>
    <p:extLst>
      <p:ext uri="{BB962C8B-B14F-4D97-AF65-F5344CB8AC3E}">
        <p14:creationId xmlns:p14="http://schemas.microsoft.com/office/powerpoint/2010/main" val="28391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Вид устройства</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7605" y="2104372"/>
            <a:ext cx="6876789" cy="4158642"/>
          </a:xfrm>
          <a:prstGeom prst="rect">
            <a:avLst/>
          </a:prstGeom>
        </p:spPr>
      </p:pic>
    </p:spTree>
    <p:extLst>
      <p:ext uri="{BB962C8B-B14F-4D97-AF65-F5344CB8AC3E}">
        <p14:creationId xmlns:p14="http://schemas.microsoft.com/office/powerpoint/2010/main" val="806045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Вид изнутри</a:t>
            </a:r>
            <a:endParaRPr lang="ru-RU" b="1" dirty="0"/>
          </a:p>
        </p:txBody>
      </p:sp>
      <p:pic>
        <p:nvPicPr>
          <p:cNvPr id="4" name="Объект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5770" y="1600156"/>
            <a:ext cx="7440460" cy="4738013"/>
          </a:xfrm>
          <a:prstGeom prst="rect">
            <a:avLst/>
          </a:prstGeom>
        </p:spPr>
      </p:pic>
    </p:spTree>
    <p:extLst>
      <p:ext uri="{BB962C8B-B14F-4D97-AF65-F5344CB8AC3E}">
        <p14:creationId xmlns:p14="http://schemas.microsoft.com/office/powerpoint/2010/main" val="546963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Описание работы</a:t>
            </a:r>
            <a:endParaRPr lang="ru-RU" b="1" dirty="0"/>
          </a:p>
        </p:txBody>
      </p:sp>
      <p:sp>
        <p:nvSpPr>
          <p:cNvPr id="3" name="Объект 2"/>
          <p:cNvSpPr>
            <a:spLocks noGrp="1"/>
          </p:cNvSpPr>
          <p:nvPr>
            <p:ph idx="1"/>
          </p:nvPr>
        </p:nvSpPr>
        <p:spPr/>
        <p:txBody>
          <a:bodyPr>
            <a:normAutofit fontScale="77500" lnSpcReduction="20000"/>
          </a:bodyPr>
          <a:lstStyle/>
          <a:p>
            <a:r>
              <a:rPr lang="ru-RU" dirty="0"/>
              <a:t>Ряд А: использовался для сохранения промежуточных результатов вычисления.</a:t>
            </a:r>
          </a:p>
          <a:p>
            <a:r>
              <a:rPr lang="uk-UA" dirty="0"/>
              <a:t>Ряд В: диски с цифрами от 0 до 9 (</a:t>
            </a:r>
            <a:r>
              <a:rPr lang="uk-UA" dirty="0" err="1"/>
              <a:t>сохранение</a:t>
            </a:r>
            <a:r>
              <a:rPr lang="uk-UA" dirty="0"/>
              <a:t> </a:t>
            </a:r>
            <a:r>
              <a:rPr lang="uk-UA" dirty="0" err="1"/>
              <a:t>промежуточных</a:t>
            </a:r>
            <a:r>
              <a:rPr lang="uk-UA" dirty="0"/>
              <a:t> </a:t>
            </a:r>
            <a:r>
              <a:rPr lang="uk-UA" dirty="0" err="1"/>
              <a:t>результатов</a:t>
            </a:r>
            <a:r>
              <a:rPr lang="uk-UA" dirty="0"/>
              <a:t> </a:t>
            </a:r>
            <a:r>
              <a:rPr lang="uk-UA" dirty="0" err="1"/>
              <a:t>вычисления</a:t>
            </a:r>
            <a:r>
              <a:rPr lang="uk-UA" dirty="0"/>
              <a:t>).</a:t>
            </a:r>
          </a:p>
          <a:p>
            <a:r>
              <a:rPr lang="uk-UA" dirty="0"/>
              <a:t>Ряд С: </a:t>
            </a:r>
            <a:r>
              <a:rPr lang="uk-UA" dirty="0" err="1"/>
              <a:t>содержит</a:t>
            </a:r>
            <a:r>
              <a:rPr lang="uk-UA" dirty="0"/>
              <a:t> поводки </a:t>
            </a:r>
            <a:r>
              <a:rPr lang="en-US" dirty="0"/>
              <a:t>J</a:t>
            </a:r>
            <a:r>
              <a:rPr lang="uk-UA" dirty="0"/>
              <a:t>, </a:t>
            </a:r>
            <a:r>
              <a:rPr lang="uk-UA" dirty="0" err="1"/>
              <a:t>котор</a:t>
            </a:r>
            <a:r>
              <a:rPr lang="ru-RU" dirty="0" err="1"/>
              <a:t>ые</a:t>
            </a:r>
            <a:r>
              <a:rPr lang="ru-RU" dirty="0"/>
              <a:t> использовались для проведения операций сложения и умножения.</a:t>
            </a:r>
          </a:p>
          <a:p>
            <a:r>
              <a:rPr lang="ru-RU" dirty="0"/>
              <a:t>Ряд </a:t>
            </a:r>
            <a:r>
              <a:rPr lang="en-US" dirty="0"/>
              <a:t>D: </a:t>
            </a:r>
            <a:r>
              <a:rPr lang="uk-UA" dirty="0" err="1"/>
              <a:t>содержит</a:t>
            </a:r>
            <a:r>
              <a:rPr lang="uk-UA" dirty="0"/>
              <a:t> </a:t>
            </a:r>
            <a:r>
              <a:rPr lang="uk-UA" dirty="0" err="1"/>
              <a:t>квадратн</a:t>
            </a:r>
            <a:r>
              <a:rPr lang="ru-RU" dirty="0" err="1"/>
              <a:t>ые</a:t>
            </a:r>
            <a:r>
              <a:rPr lang="ru-RU" dirty="0"/>
              <a:t> окошки, в которых отображается результат </a:t>
            </a:r>
            <a:r>
              <a:rPr lang="ru-RU" dirty="0" err="1"/>
              <a:t>проведеной</a:t>
            </a:r>
            <a:r>
              <a:rPr lang="ru-RU" dirty="0"/>
              <a:t> операции.</a:t>
            </a:r>
          </a:p>
          <a:p>
            <a:r>
              <a:rPr lang="ru-RU" dirty="0"/>
              <a:t>Ряд </a:t>
            </a:r>
            <a:r>
              <a:rPr lang="uk-UA" dirty="0"/>
              <a:t>І: </a:t>
            </a:r>
            <a:r>
              <a:rPr lang="uk-UA" dirty="0" err="1"/>
              <a:t>содержит</a:t>
            </a:r>
            <a:r>
              <a:rPr lang="uk-UA" dirty="0"/>
              <a:t> поводки, </a:t>
            </a:r>
            <a:r>
              <a:rPr lang="uk-UA" dirty="0" err="1"/>
              <a:t>котор</a:t>
            </a:r>
            <a:r>
              <a:rPr lang="ru-RU" dirty="0" err="1"/>
              <a:t>ые</a:t>
            </a:r>
            <a:r>
              <a:rPr lang="ru-RU" dirty="0"/>
              <a:t> использовались для установки счетной машины в исходное </a:t>
            </a:r>
            <a:r>
              <a:rPr lang="ru-RU" dirty="0" smtClean="0"/>
              <a:t>состояние после </a:t>
            </a:r>
            <a:r>
              <a:rPr lang="ru-RU" dirty="0"/>
              <a:t>проведения операций сложения, вычитания, умножения или деления.</a:t>
            </a:r>
          </a:p>
          <a:p>
            <a:r>
              <a:rPr lang="uk-UA" dirty="0"/>
              <a:t>Ряд </a:t>
            </a:r>
            <a:r>
              <a:rPr lang="en-US" dirty="0"/>
              <a:t>F:</a:t>
            </a:r>
            <a:r>
              <a:rPr lang="uk-UA" dirty="0"/>
              <a:t> поводки </a:t>
            </a:r>
            <a:r>
              <a:rPr lang="uk-UA" dirty="0" err="1"/>
              <a:t>использовались</a:t>
            </a:r>
            <a:r>
              <a:rPr lang="uk-UA" dirty="0"/>
              <a:t> для в</a:t>
            </a:r>
            <a:r>
              <a:rPr lang="ru-RU" dirty="0" err="1"/>
              <a:t>ычетания</a:t>
            </a:r>
            <a:r>
              <a:rPr lang="ru-RU" dirty="0"/>
              <a:t> и деления.</a:t>
            </a:r>
            <a:endParaRPr lang="en-US" dirty="0"/>
          </a:p>
          <a:p>
            <a:r>
              <a:rPr lang="uk-UA" dirty="0"/>
              <a:t>Ряд </a:t>
            </a:r>
            <a:r>
              <a:rPr lang="en-US" dirty="0"/>
              <a:t>G: </a:t>
            </a:r>
            <a:r>
              <a:rPr lang="uk-UA" dirty="0" err="1"/>
              <a:t>отображение</a:t>
            </a:r>
            <a:r>
              <a:rPr lang="uk-UA" dirty="0"/>
              <a:t> числа, показ</a:t>
            </a:r>
            <a:r>
              <a:rPr lang="ru-RU" dirty="0" err="1"/>
              <a:t>ывающее</a:t>
            </a:r>
            <a:r>
              <a:rPr lang="ru-RU" dirty="0"/>
              <a:t> кол-во вводов всех разрядов делителя.</a:t>
            </a:r>
          </a:p>
          <a:p>
            <a:endParaRPr lang="ru-RU" dirty="0"/>
          </a:p>
        </p:txBody>
      </p:sp>
    </p:spTree>
    <p:extLst>
      <p:ext uri="{BB962C8B-B14F-4D97-AF65-F5344CB8AC3E}">
        <p14:creationId xmlns:p14="http://schemas.microsoft.com/office/powerpoint/2010/main" val="398301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73825"/>
            <a:ext cx="10515600" cy="5703138"/>
          </a:xfrm>
        </p:spPr>
        <p:txBody>
          <a:bodyPr>
            <a:normAutofit fontScale="85000" lnSpcReduction="20000"/>
          </a:bodyPr>
          <a:lstStyle/>
          <a:p>
            <a:pPr marL="0" indent="0">
              <a:buNone/>
            </a:pPr>
            <a:r>
              <a:rPr lang="ru-RU" dirty="0"/>
              <a:t>Поводки (I) – это стержни (M), на которых закреплены: цифровой диск (N), зубчатое колесо (R) и однозубое колес переноса переполнения (Q)</a:t>
            </a:r>
            <a:r>
              <a:rPr lang="en-US" dirty="0"/>
              <a:t>.</a:t>
            </a:r>
            <a:endParaRPr lang="ru-RU" dirty="0"/>
          </a:p>
          <a:p>
            <a:pPr marL="0" indent="0">
              <a:buNone/>
            </a:pPr>
            <a:r>
              <a:rPr lang="ru-RU" dirty="0"/>
              <a:t>На поводке J жестко закреплена зубчатая гребенка (К), входящая в зацепление с зубчатым колесом R,  закрепленным на одной оси (М) с цифровым диском (N</a:t>
            </a:r>
            <a:r>
              <a:rPr lang="ru-RU" dirty="0" smtClean="0"/>
              <a:t>).</a:t>
            </a:r>
            <a:br>
              <a:rPr lang="ru-RU" dirty="0" smtClean="0"/>
            </a:br>
            <a:endParaRPr lang="ru-RU" dirty="0"/>
          </a:p>
          <a:p>
            <a:pPr marL="0" indent="0">
              <a:buNone/>
            </a:pPr>
            <a:r>
              <a:rPr lang="ru-RU" dirty="0"/>
              <a:t>Диск (N) поворачивался так, что в окошке (D) отображался введенный разряд первого слагаемого. После того, как установочный ключ отпускался, поводок (J) вместе с гребенкой (K) возвращался в исходное состояние под действием пружины (L). Аналогично, вводились следующие разряды первого слагаемого. Далее с помощью этих же поводков (J) вводилось второе слагаемое, по описанному выше алгоритму</a:t>
            </a:r>
            <a:r>
              <a:rPr lang="ru-RU" dirty="0" smtClean="0"/>
              <a:t>.</a:t>
            </a:r>
            <a:br>
              <a:rPr lang="ru-RU" dirty="0" smtClean="0"/>
            </a:br>
            <a:endParaRPr lang="ru-RU" dirty="0"/>
          </a:p>
          <a:p>
            <a:pPr marL="0" indent="0">
              <a:buNone/>
            </a:pPr>
            <a:r>
              <a:rPr lang="ru-RU" dirty="0"/>
              <a:t>Если при вводе очередного разряда слагаемого происходило переполнение, то разряд переполнения переносился в старший разряд. Происходило это так. На оси (М), к которой был прикреплен диск (N), располагался однозубый диск(Q), входящий в зацепление с зубчатым диском (P) в момент переполнения разряда и поворачивающий его на одно деление. Зубчатый диск, в свою очередь, входил в зацепление с зубчатым диском (Z), поворачивающим цифровой диск старшего разряда на одно деление</a:t>
            </a:r>
            <a:r>
              <a:rPr lang="ru-RU" dirty="0" smtClean="0"/>
              <a:t>.</a:t>
            </a:r>
            <a:endParaRPr lang="ru-RU" dirty="0"/>
          </a:p>
        </p:txBody>
      </p:sp>
    </p:spTree>
    <p:extLst>
      <p:ext uri="{BB962C8B-B14F-4D97-AF65-F5344CB8AC3E}">
        <p14:creationId xmlns:p14="http://schemas.microsoft.com/office/powerpoint/2010/main" val="68744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65513"/>
            <a:ext cx="10515600" cy="5902036"/>
          </a:xfrm>
        </p:spPr>
        <p:txBody>
          <a:bodyPr>
            <a:normAutofit fontScale="70000" lnSpcReduction="20000"/>
          </a:bodyPr>
          <a:lstStyle/>
          <a:p>
            <a:pPr marL="0" indent="0">
              <a:buNone/>
            </a:pPr>
            <a:r>
              <a:rPr lang="ru-RU" dirty="0"/>
              <a:t>Организация процесса вычитания и деления было схожа с процессом сложения. Внешне для пользователя счетной машины это отличие заключалось в направлении поворота поводков (W). Так при сложении они поворачивались против часовой стрелки, а при вычитании - по часовой стрелке. Поводок (W) поворачивал зубчатую гребенку (T), которая входила в зацепление с зубчатым колесом (Z), поворачивая его. После окончания ввода вычитаемого в окошках отображения результата (D) показывался результат вычитания. Если при вычитании величины уменьшаемого разряда не хватало, то от старшего разряда отнималась единица и прибавлялась к младшему. Осуществлялось это автоматически, с помощью того же механизма, который использовался для переноса переполнения при сложении.</a:t>
            </a:r>
          </a:p>
          <a:p>
            <a:endParaRPr lang="ru-RU" dirty="0"/>
          </a:p>
          <a:p>
            <a:pPr marL="0" indent="0">
              <a:buNone/>
            </a:pPr>
            <a:r>
              <a:rPr lang="ru-RU" dirty="0" smtClean="0"/>
              <a:t>Автоматический подсчет количества вычитаний происходил следующим образом. Когда водился делитель с помощью поводков ряда (F), одновременно с ними, по часовой стрелке, поворачивались зубчатые гребенки (T). Внизу гребенки располагалась подпружиненная планка. При повороте по часовой стрелке подпружиненная планка задевала за штыри (Y) диска (Х) и заходила в паз гребенки. Когда нижняя часть гребенки отворачивалась от штырьков, подпружиненная планка выходила из паза.</a:t>
            </a:r>
          </a:p>
          <a:p>
            <a:endParaRPr lang="ru-RU" dirty="0" smtClean="0"/>
          </a:p>
          <a:p>
            <a:pPr marL="0" indent="0">
              <a:buNone/>
            </a:pPr>
            <a:r>
              <a:rPr lang="ru-RU" dirty="0" smtClean="0"/>
              <a:t>После окончания ввода разряда делителя гребенка (T) под действием пружины (U) возвращалась в исходное состояние, при этом, расположенная в нижней части гребенки, подпружиненная пластинка входила в зацепление со штырьками (Y) диска (X), поворачивая его на одно деление. Диск (X) был жестко закреплен на стрежне (W) с цифровым колесом (V), которое также поворачивалось на одно деление. Таким образом, в окошках ряда (G) отображалось число, показывающее количество вводов всех разрядов делителя.</a:t>
            </a:r>
            <a:endParaRPr lang="ru-RU" dirty="0"/>
          </a:p>
        </p:txBody>
      </p:sp>
    </p:spTree>
    <p:extLst>
      <p:ext uri="{BB962C8B-B14F-4D97-AF65-F5344CB8AC3E}">
        <p14:creationId xmlns:p14="http://schemas.microsoft.com/office/powerpoint/2010/main" val="140487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Взаимодействие с устройством </a:t>
            </a:r>
            <a:endParaRPr lang="ru-RU" b="1" dirty="0"/>
          </a:p>
        </p:txBody>
      </p:sp>
      <p:sp>
        <p:nvSpPr>
          <p:cNvPr id="3" name="Объект 2"/>
          <p:cNvSpPr>
            <a:spLocks noGrp="1"/>
          </p:cNvSpPr>
          <p:nvPr>
            <p:ph idx="1"/>
          </p:nvPr>
        </p:nvSpPr>
        <p:spPr/>
        <p:txBody>
          <a:bodyPr>
            <a:normAutofit fontScale="92500" lnSpcReduction="20000"/>
          </a:bodyPr>
          <a:lstStyle/>
          <a:p>
            <a:pPr marL="0" indent="0">
              <a:buNone/>
            </a:pPr>
            <a:r>
              <a:rPr lang="ru-RU" dirty="0" smtClean="0"/>
              <a:t>Операции сложения и умножения на машине Якобсона производились следующим образом. Вводится первое слагаемое, начиная с младшего разряда. После ввода первого числа вводилось второе слагаемое. Если при вводе очередного разряда слагаемого происходило переполнение, то разряд переполнения переносился в старший разряд. По окончанию ввода второго слагаемого в окошках (D) отображалась сумма, и можно было начинать ввод третьего слагаемого или вычитание какого-либо числа. </a:t>
            </a:r>
            <a:br>
              <a:rPr lang="ru-RU" dirty="0" smtClean="0"/>
            </a:br>
            <a:r>
              <a:rPr lang="ru-RU" dirty="0" smtClean="0"/>
              <a:t/>
            </a:r>
            <a:br>
              <a:rPr lang="ru-RU" dirty="0" smtClean="0"/>
            </a:br>
            <a:r>
              <a:rPr lang="ru-RU" dirty="0" smtClean="0"/>
              <a:t>Умножение осуществлялось путем последовательного ввода множимого столько раз, на сколько требовалось его умножить. Для облегчения умножения, под дугами поводков ряда (F) была нанесена таблица умножения. Над цифрами дуговых шкал располагался еще один ряд чисел, символизирующий умножение чисел дуговой шкалы на цифру, выгравированную рядом с поводком.</a:t>
            </a:r>
            <a:endParaRPr lang="ru-RU" dirty="0"/>
          </a:p>
          <a:p>
            <a:endParaRPr lang="ru-RU" dirty="0"/>
          </a:p>
        </p:txBody>
      </p:sp>
    </p:spTree>
    <p:extLst>
      <p:ext uri="{BB962C8B-B14F-4D97-AF65-F5344CB8AC3E}">
        <p14:creationId xmlns:p14="http://schemas.microsoft.com/office/powerpoint/2010/main" val="4034395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26093"/>
            <a:ext cx="10515600" cy="5650870"/>
          </a:xfrm>
        </p:spPr>
        <p:txBody>
          <a:bodyPr/>
          <a:lstStyle/>
          <a:p>
            <a:pPr marL="0" indent="0">
              <a:buNone/>
            </a:pPr>
            <a:r>
              <a:rPr lang="ru-RU" dirty="0" smtClean="0"/>
              <a:t>Организация процесса вычитания и деления было организовано схоже с процессом сложения и заключалось в направлении поворота поводков (W). Так при сложении они поворачивались против часовой стрелки, а при вычитании - по часовой стрелке. Все результаты выводились в окна под каждую цифры.</a:t>
            </a:r>
          </a:p>
          <a:p>
            <a:endParaRPr lang="ru-RU" dirty="0" smtClean="0"/>
          </a:p>
          <a:p>
            <a:pPr marL="0" indent="0">
              <a:buNone/>
            </a:pPr>
            <a:r>
              <a:rPr lang="ru-RU" dirty="0" smtClean="0"/>
              <a:t>Обработка входных данных позволяла экономить силы и время работающих людей над теми же операциями. Само устройство было удобным для обращения и надежным. Компактность и габариты конструкции лишь увеличивали удобство использования.</a:t>
            </a:r>
          </a:p>
          <a:p>
            <a:endParaRPr lang="ru-RU" dirty="0"/>
          </a:p>
        </p:txBody>
      </p:sp>
    </p:spTree>
    <p:extLst>
      <p:ext uri="{BB962C8B-B14F-4D97-AF65-F5344CB8AC3E}">
        <p14:creationId xmlns:p14="http://schemas.microsoft.com/office/powerpoint/2010/main" val="5043546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TM10001114[[fn=Галерея]]</Template>
  <TotalTime>208</TotalTime>
  <Words>689</Words>
  <Application>Microsoft Office PowerPoint</Application>
  <PresentationFormat>Широкоэкранный</PresentationFormat>
  <Paragraphs>29</Paragraphs>
  <Slides>8</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8</vt:i4>
      </vt:variant>
    </vt:vector>
  </HeadingPairs>
  <TitlesOfParts>
    <vt:vector size="12" baseType="lpstr">
      <vt:lpstr>Arial</vt:lpstr>
      <vt:lpstr>Calibri</vt:lpstr>
      <vt:lpstr>Calibri Light</vt:lpstr>
      <vt:lpstr>Тема Office</vt:lpstr>
      <vt:lpstr>Описание</vt:lpstr>
      <vt:lpstr>Вид устройства</vt:lpstr>
      <vt:lpstr>Вид изнутри</vt:lpstr>
      <vt:lpstr>Описание работы</vt:lpstr>
      <vt:lpstr>Презентация PowerPoint</vt:lpstr>
      <vt:lpstr>Презентация PowerPoint</vt:lpstr>
      <vt:lpstr>Взаимодействие с устройством </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Счетная машина Якобсона</dc:title>
  <dc:creator>DodoTheBird</dc:creator>
  <cp:lastModifiedBy>DodoTheBird</cp:lastModifiedBy>
  <cp:revision>10</cp:revision>
  <dcterms:created xsi:type="dcterms:W3CDTF">2021-03-02T15:49:46Z</dcterms:created>
  <dcterms:modified xsi:type="dcterms:W3CDTF">2021-03-02T19:21:53Z</dcterms:modified>
</cp:coreProperties>
</file>